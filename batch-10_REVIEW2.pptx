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482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207CE-8B65-FCB2-D30F-33F092537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1FF303-EA43-1824-25A7-2A37D8A595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2525F6-16FD-E47F-A7CC-CD5A3A262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6333C-21A6-A8B1-BFD9-AD9FA83CC5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0324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AA47C-0D15-BEF3-5D71-DFA85BAA3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983E24-26C2-E25D-E6D0-4F6231B0DB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F384C2-21AA-4825-8DA7-F096C28B0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86521-16FF-3871-89B5-F673A9F3AC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85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 txBox="1"/>
          <p:nvPr/>
        </p:nvSpPr>
        <p:spPr>
          <a:xfrm>
            <a:off x="548640" y="1097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7B34"/>
                </a:solidFill>
                <a:latin typeface="Cambria" pitchFamily="34" charset="0"/>
                <a:ea typeface="Cambria" pitchFamily="34" charset="-122"/>
              </a:rPr>
              <a:t>FOOD WASTE MANAGEMENT SYSTEM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219456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SOA Project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Review – 2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57200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Guidance of</a:t>
            </a:r>
            <a:endParaRPr lang="en-US" sz="16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Neelima Gogineni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SOA Professor,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of Computer Science and Engineering,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KLH CSE Bowrampet Campus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235780"/>
              </p:ext>
            </p:extLst>
          </p:nvPr>
        </p:nvGraphicFramePr>
        <p:xfrm>
          <a:off x="7040880" y="4160520"/>
          <a:ext cx="4663440" cy="18288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F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Roll.NO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F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Prabhu Ling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2420030396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Bhanu Prakash 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2420030365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Pavan Teja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2420030497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" name="Picture 10" descr="Best Private University in Telangana &amp; Andhra Pradesh | KLH Hyderabad">
            <a:extLst>
              <a:ext uri="{FF2B5EF4-FFF2-40B4-BE49-F238E27FC236}">
                <a16:creationId xmlns:a16="http://schemas.microsoft.com/office/drawing/2014/main" id="{63D12542-0350-9A44-B129-E999D7C24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3" y="-360181"/>
            <a:ext cx="1939646" cy="11831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1828800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r>
              <a:rPr lang="en-US" sz="3000" b="1" dirty="0">
                <a:solidFill>
                  <a:srgbClr val="1E7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Statement</a:t>
            </a:r>
            <a:endParaRPr lang="en-US" sz="3000" dirty="0">
              <a:solidFill>
                <a:schemeClr val="accent1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457199" y="1188720"/>
            <a:ext cx="11317705" cy="5212080"/>
          </a:xfrm>
          <a:prstGeom prst="roundRect">
            <a:avLst>
              <a:gd name="adj" fmla="val 3509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777239" y="1620253"/>
            <a:ext cx="10724949" cy="459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/>
              <a:t>Hotels, hostels and canteens prepare large quantities of food every day.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/>
              <a:t>The actual food consumption may be lower than the prepared quantity.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/>
              <a:t>Food waste is often recorded manually or not tracked properly.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/>
              <a:t>Lack of proper waste data makes it difficult to identify which food items are wasted the most.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/>
              <a:t>Manual tracking is time consuming and can lead to inaccurate records.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/>
              <a:t>There is a need for a centralized system to monitor and manage food waste.</a:t>
            </a:r>
          </a:p>
        </p:txBody>
      </p:sp>
      <p:pic>
        <p:nvPicPr>
          <p:cNvPr id="16" name="Picture 15" descr="Best Private University in Telangana &amp; Andhra Pradesh | KLH Hyderabad">
            <a:extLst>
              <a:ext uri="{FF2B5EF4-FFF2-40B4-BE49-F238E27FC236}">
                <a16:creationId xmlns:a16="http://schemas.microsoft.com/office/drawing/2014/main" id="{489DF514-1523-4546-B864-0F49E2327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5" y="-374609"/>
            <a:ext cx="1500069" cy="11149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1828800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</a:rPr>
              <a:t>Objectives</a:t>
            </a:r>
            <a:endParaRPr lang="en-US" sz="3000" dirty="0">
              <a:solidFill>
                <a:schemeClr val="accent1"/>
              </a:solidFill>
            </a:endParaRPr>
          </a:p>
        </p:txBody>
      </p:sp>
      <p:pic>
        <p:nvPicPr>
          <p:cNvPr id="66" name="Picture 65" descr="Best Private University in Telangana &amp; Andhra Pradesh | KLH Hyderabad">
            <a:extLst>
              <a:ext uri="{FF2B5EF4-FFF2-40B4-BE49-F238E27FC236}">
                <a16:creationId xmlns:a16="http://schemas.microsoft.com/office/drawing/2014/main" id="{28476F2E-0DFC-FB6D-3528-A9D78A49C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" y="-365747"/>
            <a:ext cx="1599264" cy="1188707"/>
          </a:xfrm>
          <a:prstGeom prst="rect">
            <a:avLst/>
          </a:prstGeom>
        </p:spPr>
      </p:pic>
      <p:sp>
        <p:nvSpPr>
          <p:cNvPr id="2" name="Shape 8"/>
          <p:cNvSpPr/>
          <p:nvPr/>
        </p:nvSpPr>
        <p:spPr>
          <a:xfrm>
            <a:off x="368969" y="1188720"/>
            <a:ext cx="11381072" cy="5212080"/>
          </a:xfrm>
          <a:prstGeom prst="roundRect">
            <a:avLst>
              <a:gd name="adj" fmla="val 3509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7">
            <a:extLst>
              <a:ext uri="{FF2B5EF4-FFF2-40B4-BE49-F238E27FC236}">
                <a16:creationId xmlns:a16="http://schemas.microsoft.com/office/drawing/2014/main" id="{0297C641-61A8-7C4E-BD97-1E1460500EDF}"/>
              </a:ext>
            </a:extLst>
          </p:cNvPr>
          <p:cNvSpPr txBox="1"/>
          <p:nvPr/>
        </p:nvSpPr>
        <p:spPr>
          <a:xfrm>
            <a:off x="777239" y="1620253"/>
            <a:ext cx="10724949" cy="459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/>
              <a:t>Digitize and automate food waste management.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/>
              <a:t>Record food preparation, consumption and waste details.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/>
              <a:t>Monitor daily, weekly and monthly food waste.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/>
              <a:t>Identify frequently wasted food items.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/>
              <a:t>Generate reports and analytics for management.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/>
              <a:t>Provide separate services for food, waste, users and reports using SOA.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1828800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Soundness</a:t>
            </a:r>
            <a:endParaRPr lang="en-US" sz="3000" dirty="0">
              <a:solidFill>
                <a:schemeClr val="accent1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5760720" cy="457200"/>
          </a:xfrm>
          <a:prstGeom prst="rect">
            <a:avLst/>
          </a:prstGeom>
          <a:solidFill>
            <a:srgbClr val="2B5FB5"/>
          </a:solidFill>
          <a:ln w="12700">
            <a:solidFill>
              <a:srgbClr val="2B5F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594360" y="1097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1371600" cy="777240"/>
          </a:xfrm>
          <a:prstGeom prst="rect">
            <a:avLst/>
          </a:prstGeom>
          <a:solidFill>
            <a:srgbClr val="2B5FB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457200" y="1691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828800" y="1691640"/>
            <a:ext cx="4389120" cy="777240"/>
          </a:xfrm>
          <a:prstGeom prst="rect">
            <a:avLst/>
          </a:prstGeom>
          <a:solidFill>
            <a:srgbClr val="EEF3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8745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51760" y="1691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dirty="0"/>
              <a:t>React, HTML, CSS, JavaScript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2560320"/>
            <a:ext cx="1371600" cy="777240"/>
          </a:xfrm>
          <a:prstGeom prst="rect">
            <a:avLst/>
          </a:prstGeom>
          <a:solidFill>
            <a:srgbClr val="3E9A4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 txBox="1"/>
          <p:nvPr/>
        </p:nvSpPr>
        <p:spPr>
          <a:xfrm>
            <a:off x="457200" y="25603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828800" y="2560320"/>
            <a:ext cx="4389120" cy="777240"/>
          </a:xfrm>
          <a:prstGeom prst="rect">
            <a:avLst/>
          </a:prstGeom>
          <a:solidFill>
            <a:srgbClr val="EEF3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27432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651760" y="25603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dirty="0"/>
              <a:t>Java, Spring Boot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457200" y="3429000"/>
            <a:ext cx="1371600" cy="777240"/>
          </a:xfrm>
          <a:prstGeom prst="rect">
            <a:avLst/>
          </a:prstGeom>
          <a:solidFill>
            <a:srgbClr val="F28C2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4"/>
          <p:cNvSpPr txBox="1"/>
          <p:nvPr/>
        </p:nvSpPr>
        <p:spPr>
          <a:xfrm>
            <a:off x="457200" y="34290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1828800" y="3429000"/>
            <a:ext cx="4389120" cy="777240"/>
          </a:xfrm>
          <a:prstGeom prst="rect">
            <a:avLst/>
          </a:prstGeom>
          <a:solidFill>
            <a:srgbClr val="EEF3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361188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651760" y="34290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dirty="0"/>
              <a:t>MySQL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457200" y="4297680"/>
            <a:ext cx="1371600" cy="777240"/>
          </a:xfrm>
          <a:prstGeom prst="rect">
            <a:avLst/>
          </a:prstGeom>
          <a:solidFill>
            <a:srgbClr val="8E5B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8"/>
          <p:cNvSpPr txBox="1"/>
          <p:nvPr/>
        </p:nvSpPr>
        <p:spPr>
          <a:xfrm>
            <a:off x="457200" y="42976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1828800" y="4297680"/>
            <a:ext cx="4389120" cy="777240"/>
          </a:xfrm>
          <a:prstGeom prst="rect">
            <a:avLst/>
          </a:prstGeom>
          <a:solidFill>
            <a:srgbClr val="EEF3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1680" y="448056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2651760" y="42976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ChatGPT</a:t>
            </a:r>
            <a:endParaRPr lang="en-US" sz="1500" dirty="0"/>
          </a:p>
        </p:txBody>
      </p:sp>
      <p:sp>
        <p:nvSpPr>
          <p:cNvPr id="33" name="Shape 25"/>
          <p:cNvSpPr/>
          <p:nvPr/>
        </p:nvSpPr>
        <p:spPr>
          <a:xfrm>
            <a:off x="6583680" y="1097280"/>
            <a:ext cx="5166360" cy="457200"/>
          </a:xfrm>
          <a:prstGeom prst="rect">
            <a:avLst/>
          </a:prstGeom>
          <a:solidFill>
            <a:srgbClr val="2B5FB5"/>
          </a:solidFill>
          <a:ln w="12700">
            <a:solidFill>
              <a:srgbClr val="2B5F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6"/>
          <p:cNvSpPr txBox="1"/>
          <p:nvPr/>
        </p:nvSpPr>
        <p:spPr>
          <a:xfrm>
            <a:off x="6720840" y="1097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700" dirty="0"/>
          </a:p>
        </p:txBody>
      </p:sp>
      <p:sp>
        <p:nvSpPr>
          <p:cNvPr id="35" name="Shape 27"/>
          <p:cNvSpPr/>
          <p:nvPr/>
        </p:nvSpPr>
        <p:spPr>
          <a:xfrm>
            <a:off x="6583680" y="2103120"/>
            <a:ext cx="1371600" cy="1234440"/>
          </a:xfrm>
          <a:prstGeom prst="roundRect">
            <a:avLst>
              <a:gd name="adj" fmla="val 7407"/>
            </a:avLst>
          </a:prstGeom>
          <a:solidFill>
            <a:srgbClr val="E4EEFB"/>
          </a:solidFill>
          <a:ln w="12700">
            <a:solidFill>
              <a:srgbClr val="A9C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8312" y="2212848"/>
            <a:ext cx="402336" cy="402336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583680" y="2651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 / Admin)</a:t>
            </a:r>
            <a:endParaRPr lang="en-US" sz="1400" dirty="0"/>
          </a:p>
        </p:txBody>
      </p:sp>
      <p:sp>
        <p:nvSpPr>
          <p:cNvPr id="38" name="Shape 29"/>
          <p:cNvSpPr/>
          <p:nvPr/>
        </p:nvSpPr>
        <p:spPr>
          <a:xfrm>
            <a:off x="8321040" y="2103120"/>
            <a:ext cx="1463040" cy="1234440"/>
          </a:xfrm>
          <a:prstGeom prst="roundRect">
            <a:avLst>
              <a:gd name="adj" fmla="val 7407"/>
            </a:avLst>
          </a:prstGeom>
          <a:solidFill>
            <a:srgbClr val="E4EEFB"/>
          </a:solidFill>
          <a:ln w="12700">
            <a:solidFill>
              <a:srgbClr val="A9C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1392" y="2212848"/>
            <a:ext cx="402336" cy="402336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321040" y="2651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 Browser)</a:t>
            </a:r>
            <a:endParaRPr lang="en-US" sz="1400" dirty="0"/>
          </a:p>
        </p:txBody>
      </p:sp>
      <p:sp>
        <p:nvSpPr>
          <p:cNvPr id="41" name="Shape 31"/>
          <p:cNvSpPr/>
          <p:nvPr/>
        </p:nvSpPr>
        <p:spPr>
          <a:xfrm>
            <a:off x="10149840" y="2103120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E3F3E3"/>
          </a:solidFill>
          <a:ln w="12700">
            <a:solidFill>
              <a:srgbClr val="94CC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48772" y="2212848"/>
            <a:ext cx="402336" cy="402336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1014984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(Node.js + Express)</a:t>
            </a:r>
            <a:endParaRPr lang="en-US" sz="1400" dirty="0"/>
          </a:p>
        </p:txBody>
      </p:sp>
      <p:sp>
        <p:nvSpPr>
          <p:cNvPr id="44" name="Shape 33"/>
          <p:cNvSpPr/>
          <p:nvPr/>
        </p:nvSpPr>
        <p:spPr>
          <a:xfrm>
            <a:off x="7955280" y="2715768"/>
            <a:ext cx="365760" cy="0"/>
          </a:xfrm>
          <a:prstGeom prst="line">
            <a:avLst/>
          </a:prstGeom>
          <a:noFill/>
          <a:ln w="31750">
            <a:solidFill>
              <a:srgbClr val="2B5FB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34"/>
          <p:cNvSpPr/>
          <p:nvPr/>
        </p:nvSpPr>
        <p:spPr>
          <a:xfrm>
            <a:off x="9784080" y="2715768"/>
            <a:ext cx="365760" cy="0"/>
          </a:xfrm>
          <a:prstGeom prst="line">
            <a:avLst/>
          </a:prstGeom>
          <a:noFill/>
          <a:ln w="31750">
            <a:solidFill>
              <a:srgbClr val="2B5FB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35"/>
          <p:cNvSpPr/>
          <p:nvPr/>
        </p:nvSpPr>
        <p:spPr>
          <a:xfrm>
            <a:off x="10945368" y="3337560"/>
            <a:ext cx="0" cy="1280160"/>
          </a:xfrm>
          <a:prstGeom prst="line">
            <a:avLst/>
          </a:prstGeom>
          <a:noFill/>
          <a:ln w="31750">
            <a:solidFill>
              <a:srgbClr val="2B5FB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36"/>
          <p:cNvSpPr/>
          <p:nvPr/>
        </p:nvSpPr>
        <p:spPr>
          <a:xfrm>
            <a:off x="9692640" y="4617720"/>
            <a:ext cx="2057400" cy="1234440"/>
          </a:xfrm>
          <a:prstGeom prst="roundRect">
            <a:avLst>
              <a:gd name="adj" fmla="val 7407"/>
            </a:avLst>
          </a:prstGeom>
          <a:solidFill>
            <a:srgbClr val="E4EEFB"/>
          </a:solidFill>
          <a:ln w="12700">
            <a:solidFill>
              <a:srgbClr val="A9C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20172" y="4727448"/>
            <a:ext cx="402336" cy="402336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9692640" y="51663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50" name="Shape 38"/>
          <p:cNvSpPr/>
          <p:nvPr/>
        </p:nvSpPr>
        <p:spPr>
          <a:xfrm>
            <a:off x="6858000" y="461772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E4EEFB"/>
          </a:solidFill>
          <a:ln w="12700">
            <a:solidFill>
              <a:srgbClr val="A9C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1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08392" y="4727448"/>
            <a:ext cx="402336" cy="402336"/>
          </a:xfrm>
          <a:prstGeom prst="rect">
            <a:avLst/>
          </a:prstGeom>
        </p:spPr>
      </p:pic>
      <p:sp>
        <p:nvSpPr>
          <p:cNvPr id="52" name="Text 39"/>
          <p:cNvSpPr txBox="1"/>
          <p:nvPr/>
        </p:nvSpPr>
        <p:spPr>
          <a:xfrm>
            <a:off x="6858000" y="5166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53" name="Shape 40"/>
          <p:cNvSpPr/>
          <p:nvPr/>
        </p:nvSpPr>
        <p:spPr>
          <a:xfrm>
            <a:off x="8961120" y="5230368"/>
            <a:ext cx="731520" cy="0"/>
          </a:xfrm>
          <a:prstGeom prst="line">
            <a:avLst/>
          </a:prstGeom>
          <a:noFill/>
          <a:ln w="31750">
            <a:solidFill>
              <a:srgbClr val="2B5FB5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IN"/>
          </a:p>
        </p:txBody>
      </p:sp>
      <p:pic>
        <p:nvPicPr>
          <p:cNvPr id="55" name="Picture 54" descr="Best Private University in Telangana &amp; Andhra Pradesh | KLH Hyderabad">
            <a:extLst>
              <a:ext uri="{FF2B5EF4-FFF2-40B4-BE49-F238E27FC236}">
                <a16:creationId xmlns:a16="http://schemas.microsoft.com/office/drawing/2014/main" id="{AE578F58-852C-6C68-D3D8-860BD1D67F0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-457705"/>
            <a:ext cx="1722983" cy="12806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1712018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3000" dirty="0">
              <a:solidFill>
                <a:schemeClr val="accent1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1595237" y="1097280"/>
            <a:ext cx="8737483" cy="5131582"/>
          </a:xfrm>
          <a:prstGeom prst="roundRect">
            <a:avLst>
              <a:gd name="adj" fmla="val 3750"/>
            </a:avLst>
          </a:prstGeom>
          <a:solidFill>
            <a:srgbClr val="E4EEFB"/>
          </a:solidFill>
          <a:ln w="12700">
            <a:solidFill>
              <a:srgbClr val="A9C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 txBox="1"/>
          <p:nvPr/>
        </p:nvSpPr>
        <p:spPr>
          <a:xfrm>
            <a:off x="2682982" y="1931182"/>
            <a:ext cx="656199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2000" b="1" dirty="0"/>
              <a:t>UI Testing</a:t>
            </a:r>
            <a:r>
              <a:rPr lang="en-US" sz="2000" dirty="0"/>
              <a:t> – Check user interface functionality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 – backend endpoints</a:t>
            </a:r>
            <a:endParaRPr lang="en-US" sz="20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2000" b="1" dirty="0"/>
              <a:t>API Testing</a:t>
            </a:r>
            <a:r>
              <a:rPr lang="en-US" sz="2000" dirty="0"/>
              <a:t> – Test REST API endpoints using Postman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Testing – user access</a:t>
            </a:r>
            <a:endParaRPr lang="en-US" sz="20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IN" sz="2000" b="1" dirty="0"/>
              <a:t>Database Testing</a:t>
            </a:r>
            <a:r>
              <a:rPr lang="en-IN" sz="2000" dirty="0"/>
              <a:t> – Verify CRUD operations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 – module interaction</a:t>
            </a:r>
            <a:endParaRPr lang="en-US" sz="20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2000" b="1" dirty="0"/>
              <a:t>Authentication Testing</a:t>
            </a:r>
            <a:r>
              <a:rPr lang="en-US" sz="2000" dirty="0"/>
              <a:t> – Verify user access</a:t>
            </a:r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2000" b="1" dirty="0"/>
              <a:t>Service Testing</a:t>
            </a:r>
            <a:r>
              <a:rPr lang="en-US" sz="2000" dirty="0"/>
              <a:t> – Test individual services</a:t>
            </a:r>
          </a:p>
        </p:txBody>
      </p:sp>
      <p:pic>
        <p:nvPicPr>
          <p:cNvPr id="19" name="Picture 18" descr="Best Private University in Telangana &amp; Andhra Pradesh | KLH Hyderabad">
            <a:extLst>
              <a:ext uri="{FF2B5EF4-FFF2-40B4-BE49-F238E27FC236}">
                <a16:creationId xmlns:a16="http://schemas.microsoft.com/office/drawing/2014/main" id="{61CF8B20-CEAC-3E74-1631-18E6F109E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62754"/>
            <a:ext cx="1595237" cy="11857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54F03-244D-0438-A5A1-95605038B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AD7D9C09-05AD-0020-A140-313FE8667F80}"/>
              </a:ext>
            </a:extLst>
          </p:cNvPr>
          <p:cNvSpPr txBox="1"/>
          <p:nvPr/>
        </p:nvSpPr>
        <p:spPr>
          <a:xfrm>
            <a:off x="1844040" y="13716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 &amp; Conclusion</a:t>
            </a:r>
            <a:endParaRPr lang="en-US" sz="3000" dirty="0">
              <a:solidFill>
                <a:schemeClr val="accent1"/>
              </a:solidFill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E118766D-3DAF-6F7E-D361-5C4FCB603DB8}"/>
              </a:ext>
            </a:extLst>
          </p:cNvPr>
          <p:cNvSpPr/>
          <p:nvPr/>
        </p:nvSpPr>
        <p:spPr>
          <a:xfrm>
            <a:off x="985812" y="1097280"/>
            <a:ext cx="4903374" cy="5349240"/>
          </a:xfrm>
          <a:prstGeom prst="roundRect">
            <a:avLst>
              <a:gd name="adj" fmla="val 3750"/>
            </a:avLst>
          </a:prstGeom>
          <a:solidFill>
            <a:srgbClr val="E4EEFB"/>
          </a:solidFill>
          <a:ln w="12700">
            <a:solidFill>
              <a:srgbClr val="A9C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593C1C65-BB46-25A8-3B69-4B80308DADC6}"/>
              </a:ext>
            </a:extLst>
          </p:cNvPr>
          <p:cNvSpPr txBox="1"/>
          <p:nvPr/>
        </p:nvSpPr>
        <p:spPr>
          <a:xfrm>
            <a:off x="1296572" y="147906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B5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21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4AC3FC29-DC39-1BAE-8F73-46899BC249B1}"/>
              </a:ext>
            </a:extLst>
          </p:cNvPr>
          <p:cNvSpPr txBox="1"/>
          <p:nvPr/>
        </p:nvSpPr>
        <p:spPr>
          <a:xfrm>
            <a:off x="1296572" y="2148840"/>
            <a:ext cx="3992098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/>
              <a:t>Easy recording of food waste.</a:t>
            </a:r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IN" sz="1600" dirty="0"/>
              <a:t>Reduced manual work.</a:t>
            </a:r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/>
              <a:t>Identification of frequently wasted food.</a:t>
            </a:r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/>
              <a:t>Useful daily, weekly and monthly reports.</a:t>
            </a:r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/>
              <a:t>Better food planning by hotels, hostels and canteens.</a:t>
            </a:r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IN" sz="1600" dirty="0"/>
              <a:t>Modular SOA-based system.</a:t>
            </a:r>
            <a:endParaRPr lang="en-US" sz="1400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561EED33-C8D9-CE79-3AFD-121934795FE0}"/>
              </a:ext>
            </a:extLst>
          </p:cNvPr>
          <p:cNvSpPr/>
          <p:nvPr/>
        </p:nvSpPr>
        <p:spPr>
          <a:xfrm>
            <a:off x="6240780" y="1097280"/>
            <a:ext cx="5326380" cy="5349240"/>
          </a:xfrm>
          <a:prstGeom prst="roundRect">
            <a:avLst>
              <a:gd name="adj" fmla="val 3750"/>
            </a:avLst>
          </a:prstGeom>
          <a:solidFill>
            <a:srgbClr val="E3F3E3"/>
          </a:solidFill>
          <a:ln w="12700">
            <a:solidFill>
              <a:srgbClr val="94CC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C24C77CA-7884-8C2A-5B87-2286AE9BA4D8}"/>
              </a:ext>
            </a:extLst>
          </p:cNvPr>
          <p:cNvSpPr txBox="1"/>
          <p:nvPr/>
        </p:nvSpPr>
        <p:spPr>
          <a:xfrm>
            <a:off x="6592374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100" dirty="0">
              <a:solidFill>
                <a:schemeClr val="accent1"/>
              </a:solidFill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43523349-F72B-6E66-E329-BA7616C3F55F}"/>
              </a:ext>
            </a:extLst>
          </p:cNvPr>
          <p:cNvSpPr txBox="1"/>
          <p:nvPr/>
        </p:nvSpPr>
        <p:spPr>
          <a:xfrm>
            <a:off x="6592374" y="2148840"/>
            <a:ext cx="4623192" cy="1805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800"/>
              </a:spcAft>
            </a:pPr>
            <a:r>
              <a:rPr lang="en-US" sz="1600" dirty="0"/>
              <a:t>The Food Waste Management System provides a service-oriented platform for hotels, hostels and canteens to record, monitor and analyze food waste. By using independent services and REST APIs, the system provides a modular and maintainable architecture while helping organizations make better food-planning decisions and reduce unnecessary food wastage.</a:t>
            </a:r>
            <a:endParaRPr lang="en-US" sz="1400" dirty="0"/>
          </a:p>
        </p:txBody>
      </p:sp>
      <p:pic>
        <p:nvPicPr>
          <p:cNvPr id="19" name="Picture 18" descr="Best Private University in Telangana &amp; Andhra Pradesh | KLH Hyderabad">
            <a:extLst>
              <a:ext uri="{FF2B5EF4-FFF2-40B4-BE49-F238E27FC236}">
                <a16:creationId xmlns:a16="http://schemas.microsoft.com/office/drawing/2014/main" id="{CE85135F-A836-851A-6D38-7288DB74D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62754"/>
            <a:ext cx="1595237" cy="11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545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75A16-6EA1-1A8C-C1CF-0D55BC660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>
            <a:extLst>
              <a:ext uri="{FF2B5EF4-FFF2-40B4-BE49-F238E27FC236}">
                <a16:creationId xmlns:a16="http://schemas.microsoft.com/office/drawing/2014/main" id="{9ACB8B2C-5A06-972E-4C65-A16684013E4C}"/>
              </a:ext>
            </a:extLst>
          </p:cNvPr>
          <p:cNvSpPr/>
          <p:nvPr/>
        </p:nvSpPr>
        <p:spPr>
          <a:xfrm>
            <a:off x="1727258" y="2084754"/>
            <a:ext cx="8737483" cy="2688492"/>
          </a:xfrm>
          <a:prstGeom prst="roundRect">
            <a:avLst>
              <a:gd name="adj" fmla="val 3750"/>
            </a:avLst>
          </a:prstGeom>
          <a:solidFill>
            <a:srgbClr val="E4EEFB"/>
          </a:solidFill>
          <a:ln w="12700">
            <a:solidFill>
              <a:srgbClr val="A9C4E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19" name="Picture 18" descr="Best Private University in Telangana &amp; Andhra Pradesh | KLH Hyderabad">
            <a:extLst>
              <a:ext uri="{FF2B5EF4-FFF2-40B4-BE49-F238E27FC236}">
                <a16:creationId xmlns:a16="http://schemas.microsoft.com/office/drawing/2014/main" id="{A21BC9CE-FA79-9C3C-1527-BFB889E5A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62754"/>
            <a:ext cx="1595237" cy="1185714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65DE4023-51C8-7FDF-2010-9B1432779ED5}"/>
              </a:ext>
            </a:extLst>
          </p:cNvPr>
          <p:cNvSpPr txBox="1"/>
          <p:nvPr/>
        </p:nvSpPr>
        <p:spPr>
          <a:xfrm>
            <a:off x="1844039" y="2846754"/>
            <a:ext cx="8503920" cy="1164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179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384</Words>
  <Application>Microsoft Office PowerPoint</Application>
  <PresentationFormat>Widescreen</PresentationFormat>
  <Paragraphs>73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Pavan Teja</cp:lastModifiedBy>
  <cp:revision>4</cp:revision>
  <dcterms:created xsi:type="dcterms:W3CDTF">2026-09-21T12:26:08Z</dcterms:created>
  <dcterms:modified xsi:type="dcterms:W3CDTF">2026-09-22T08:40:58Z</dcterms:modified>
</cp:coreProperties>
</file>